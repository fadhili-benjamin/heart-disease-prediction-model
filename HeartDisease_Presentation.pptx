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6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7.xml" ContentType="application/vnd.openxmlformats-officedocument.presentationml.notesSlide+xml"/>
  <Override PartName="/ppt/charts/chart12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72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Disease Prevalence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E52-44B4-9FC4-DB0CD484CAD3}"/>
              </c:ext>
            </c:extLst>
          </c:dPt>
          <c:dPt>
            <c:idx val="1"/>
            <c:bubble3D val="0"/>
            <c:spPr>
              <a:solidFill>
                <a:srgbClr val="1BAF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E52-44B4-9FC4-DB0CD484CAD3}"/>
              </c:ext>
            </c:extLst>
          </c:dPt>
          <c:cat>
            <c:strRef>
              <c:f>Sheet1!$A$2:$A$3</c:f>
              <c:strCache>
                <c:ptCount val="2"/>
                <c:pt idx="0">
                  <c:v>Heart Disease</c:v>
                </c:pt>
                <c:pt idx="1">
                  <c:v>Healthy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330</c:v>
                </c:pt>
                <c:pt idx="1">
                  <c:v>276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E52-44B4-9FC4-DB0CD484CA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Patients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&lt;40</c:v>
                </c:pt>
                <c:pt idx="1">
                  <c:v>40–49</c:v>
                </c:pt>
                <c:pt idx="2">
                  <c:v>50–59</c:v>
                </c:pt>
                <c:pt idx="3">
                  <c:v>60–69</c:v>
                </c:pt>
                <c:pt idx="4">
                  <c:v>70+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60</c:v>
                </c:pt>
                <c:pt idx="2">
                  <c:v>148</c:v>
                </c:pt>
                <c:pt idx="3">
                  <c:v>88</c:v>
                </c:pt>
                <c:pt idx="4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74-4ECF-A693-F771AD80A6A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&lt;40</c:v>
                </c:pt>
                <c:pt idx="1">
                  <c:v>40–49</c:v>
                </c:pt>
                <c:pt idx="2">
                  <c:v>50–59</c:v>
                </c:pt>
                <c:pt idx="3">
                  <c:v>60–69</c:v>
                </c:pt>
                <c:pt idx="4">
                  <c:v>70+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62</c:v>
                </c:pt>
                <c:pt idx="2">
                  <c:v>112</c:v>
                </c:pt>
                <c:pt idx="3">
                  <c:v>64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74-4ECF-A693-F771AD80A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D2137"/>
                </a:solidFill>
                <a:latin typeface="Arial"/>
              </a:rPr>
              <a:t>By Gender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</c:v>
                </c:pt>
                <c:pt idx="1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7-4BEC-9051-73E004108A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207</c:v>
                </c:pt>
                <c:pt idx="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F7-4BEC-9051-73E004108A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Age Distribution by Disease Status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29–38</c:v>
                </c:pt>
                <c:pt idx="1">
                  <c:v>39–48</c:v>
                </c:pt>
                <c:pt idx="2">
                  <c:v>49–58</c:v>
                </c:pt>
                <c:pt idx="3">
                  <c:v>59–68</c:v>
                </c:pt>
                <c:pt idx="4">
                  <c:v>69–77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52</c:v>
                </c:pt>
                <c:pt idx="2">
                  <c:v>120</c:v>
                </c:pt>
                <c:pt idx="3">
                  <c:v>110</c:v>
                </c:pt>
                <c:pt idx="4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F0-4FD8-B41E-7D087E8A2A8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29–38</c:v>
                </c:pt>
                <c:pt idx="1">
                  <c:v>39–48</c:v>
                </c:pt>
                <c:pt idx="2">
                  <c:v>49–58</c:v>
                </c:pt>
                <c:pt idx="3">
                  <c:v>59–68</c:v>
                </c:pt>
                <c:pt idx="4">
                  <c:v>69–77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</c:v>
                </c:pt>
                <c:pt idx="1">
                  <c:v>70</c:v>
                </c:pt>
                <c:pt idx="2">
                  <c:v>100</c:v>
                </c:pt>
                <c:pt idx="3">
                  <c:v>68</c:v>
                </c:pt>
                <c:pt idx="4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F0-4FD8-B41E-7D087E8A2A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Cholesterol Distribution (mg/dl)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&lt;200</c:v>
                </c:pt>
                <c:pt idx="1">
                  <c:v>200–239</c:v>
                </c:pt>
                <c:pt idx="2">
                  <c:v>240–279</c:v>
                </c:pt>
                <c:pt idx="3">
                  <c:v>280+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86</c:v>
                </c:pt>
                <c:pt idx="2">
                  <c:v>126</c:v>
                </c:pt>
                <c:pt idx="3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A2-4E45-A621-3C41C9BBF1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&lt;200</c:v>
                </c:pt>
                <c:pt idx="1">
                  <c:v>200–239</c:v>
                </c:pt>
                <c:pt idx="2">
                  <c:v>240–279</c:v>
                </c:pt>
                <c:pt idx="3">
                  <c:v>280+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86</c:v>
                </c:pt>
                <c:pt idx="2">
                  <c:v>96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A2-4E45-A621-3C41C9BBF1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Max Heart Rate vs Age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32</c:v>
                </c:pt>
                <c:pt idx="1">
                  <c:v>35</c:v>
                </c:pt>
                <c:pt idx="2">
                  <c:v>40</c:v>
                </c:pt>
                <c:pt idx="3">
                  <c:v>43</c:v>
                </c:pt>
                <c:pt idx="4">
                  <c:v>46</c:v>
                </c:pt>
                <c:pt idx="5">
                  <c:v>50</c:v>
                </c:pt>
                <c:pt idx="6">
                  <c:v>54</c:v>
                </c:pt>
                <c:pt idx="7">
                  <c:v>57</c:v>
                </c:pt>
                <c:pt idx="8">
                  <c:v>60</c:v>
                </c:pt>
                <c:pt idx="9">
                  <c:v>64</c:v>
                </c:pt>
                <c:pt idx="10">
                  <c:v>68</c:v>
                </c:pt>
                <c:pt idx="11">
                  <c:v>72</c:v>
                </c:pt>
                <c:pt idx="12">
                  <c:v>76</c:v>
                </c:pt>
              </c:numCache>
            </c:numRef>
          </c:xVal>
          <c:yVal>
            <c:numRef>
              <c:f>Sheet1!$B$2:$B$14</c:f>
              <c:numCache>
                <c:formatCode>General</c:formatCode>
                <c:ptCount val="13"/>
                <c:pt idx="0">
                  <c:v>168</c:v>
                </c:pt>
                <c:pt idx="1">
                  <c:v>162</c:v>
                </c:pt>
                <c:pt idx="2">
                  <c:v>158</c:v>
                </c:pt>
                <c:pt idx="3">
                  <c:v>152</c:v>
                </c:pt>
                <c:pt idx="4">
                  <c:v>148</c:v>
                </c:pt>
                <c:pt idx="5">
                  <c:v>142</c:v>
                </c:pt>
                <c:pt idx="6">
                  <c:v>136</c:v>
                </c:pt>
                <c:pt idx="7">
                  <c:v>132</c:v>
                </c:pt>
                <c:pt idx="8">
                  <c:v>128</c:v>
                </c:pt>
                <c:pt idx="9">
                  <c:v>124</c:v>
                </c:pt>
                <c:pt idx="10">
                  <c:v>118</c:v>
                </c:pt>
                <c:pt idx="11">
                  <c:v>112</c:v>
                </c:pt>
                <c:pt idx="12">
                  <c:v>106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63A-4229-B0DC-69EE932360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ln w="25400" cap="flat">
              <a:solidFill>
                <a:srgbClr val="1BAF7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AF7A"/>
              </a:solidFill>
              <a:ln w="9525" cap="flat">
                <a:solidFill>
                  <a:srgbClr val="1BAF7A"/>
                </a:solidFill>
                <a:prstDash val="solid"/>
                <a:round/>
              </a:ln>
              <a:effectLst/>
            </c:spPr>
          </c:marker>
          <c:xVal>
            <c:numRef>
              <c:f>Sheet1!$A$2:$A$14</c:f>
              <c:numCache>
                <c:formatCode>General</c:formatCode>
                <c:ptCount val="13"/>
                <c:pt idx="0">
                  <c:v>32</c:v>
                </c:pt>
                <c:pt idx="1">
                  <c:v>35</c:v>
                </c:pt>
                <c:pt idx="2">
                  <c:v>40</c:v>
                </c:pt>
                <c:pt idx="3">
                  <c:v>43</c:v>
                </c:pt>
                <c:pt idx="4">
                  <c:v>46</c:v>
                </c:pt>
                <c:pt idx="5">
                  <c:v>50</c:v>
                </c:pt>
                <c:pt idx="6">
                  <c:v>54</c:v>
                </c:pt>
                <c:pt idx="7">
                  <c:v>57</c:v>
                </c:pt>
                <c:pt idx="8">
                  <c:v>60</c:v>
                </c:pt>
                <c:pt idx="9">
                  <c:v>64</c:v>
                </c:pt>
                <c:pt idx="10">
                  <c:v>68</c:v>
                </c:pt>
                <c:pt idx="11">
                  <c:v>72</c:v>
                </c:pt>
                <c:pt idx="12">
                  <c:v>76</c:v>
                </c:pt>
              </c:numCache>
            </c:numRef>
          </c:xVal>
          <c:yVal>
            <c:numRef>
              <c:f>Sheet1!$C$2:$C$14</c:f>
              <c:numCache>
                <c:formatCode>General</c:formatCode>
                <c:ptCount val="13"/>
                <c:pt idx="0">
                  <c:v>174</c:v>
                </c:pt>
                <c:pt idx="1">
                  <c:v>170</c:v>
                </c:pt>
                <c:pt idx="2">
                  <c:v>166</c:v>
                </c:pt>
                <c:pt idx="3">
                  <c:v>160</c:v>
                </c:pt>
                <c:pt idx="4">
                  <c:v>155</c:v>
                </c:pt>
                <c:pt idx="5">
                  <c:v>150</c:v>
                </c:pt>
                <c:pt idx="6">
                  <c:v>146</c:v>
                </c:pt>
                <c:pt idx="7">
                  <c:v>142</c:v>
                </c:pt>
                <c:pt idx="8">
                  <c:v>138</c:v>
                </c:pt>
                <c:pt idx="9">
                  <c:v>132</c:v>
                </c:pt>
                <c:pt idx="10">
                  <c:v>126</c:v>
                </c:pt>
                <c:pt idx="11">
                  <c:v>120</c:v>
                </c:pt>
                <c:pt idx="12">
                  <c:v>114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63A-4229-B0DC-69EE93236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By Gender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207</c:v>
                </c:pt>
                <c:pt idx="1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B9-4CF7-82F5-44A14BA855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207</c:v>
                </c:pt>
                <c:pt idx="1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B9-4CF7-82F5-44A14BA85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Disease by Chest Pain Type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Typical</c:v>
                </c:pt>
                <c:pt idx="1">
                  <c:v>Atypical</c:v>
                </c:pt>
                <c:pt idx="2">
                  <c:v>Non-Ang</c:v>
                </c:pt>
                <c:pt idx="3">
                  <c:v>Asympt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40</c:v>
                </c:pt>
                <c:pt idx="2">
                  <c:v>76</c:v>
                </c:pt>
                <c:pt idx="3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86-4604-BCAD-CD5D0A2D35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Typical</c:v>
                </c:pt>
                <c:pt idx="1">
                  <c:v>Atypical</c:v>
                </c:pt>
                <c:pt idx="2">
                  <c:v>Non-Ang</c:v>
                </c:pt>
                <c:pt idx="3">
                  <c:v>Asympt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264</c:v>
                </c:pt>
                <c:pt idx="1">
                  <c:v>60</c:v>
                </c:pt>
                <c:pt idx="2">
                  <c:v>98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F86-4604-BCAD-CD5D0A2D35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By Major Vessels (ca)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140</c:v>
                </c:pt>
                <c:pt idx="1">
                  <c:v>80</c:v>
                </c:pt>
                <c:pt idx="2">
                  <c:v>58</c:v>
                </c:pt>
                <c:pt idx="3">
                  <c:v>38</c:v>
                </c:pt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86-426F-BFE9-1DBE173A609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210</c:v>
                </c:pt>
                <c:pt idx="1">
                  <c:v>50</c:v>
                </c:pt>
                <c:pt idx="2">
                  <c:v>18</c:v>
                </c:pt>
                <c:pt idx="3">
                  <c:v>2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86-426F-BFE9-1DBE173A60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By Thalassemia Type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Normal</c:v>
                </c:pt>
                <c:pt idx="1">
                  <c:v>Fixed</c:v>
                </c:pt>
                <c:pt idx="2">
                  <c:v>Reversible</c:v>
                </c:pt>
                <c:pt idx="3">
                  <c:v>Unknown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22</c:v>
                </c:pt>
                <c:pt idx="2">
                  <c:v>264</c:v>
                </c:pt>
                <c:pt idx="3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B2-4261-9F5A-A04298A8DFC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Normal</c:v>
                </c:pt>
                <c:pt idx="1">
                  <c:v>Fixed</c:v>
                </c:pt>
                <c:pt idx="2">
                  <c:v>Reversible</c:v>
                </c:pt>
                <c:pt idx="3">
                  <c:v>Unknown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168</c:v>
                </c:pt>
                <c:pt idx="1">
                  <c:v>14</c:v>
                </c:pt>
                <c:pt idx="2">
                  <c:v>68</c:v>
                </c:pt>
                <c:pt idx="3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B2-4261-9F5A-A04298A8DF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2137"/>
                </a:solidFill>
                <a:latin typeface="Arial"/>
              </a:rPr>
              <a:t>Exercise-Induced Angina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Heart Disease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 Angina</c:v>
                </c:pt>
                <c:pt idx="1">
                  <c:v>Angina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102</c:v>
                </c:pt>
                <c:pt idx="1">
                  <c:v>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3D-41D1-A84E-467151E5CA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No Angina</c:v>
                </c:pt>
                <c:pt idx="1">
                  <c:v>Angina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216</c:v>
                </c:pt>
                <c:pt idx="1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3D-41D1-A84E-467151E5CA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2137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0D2137"/>
                </a:solidFill>
                <a:latin typeface="Arial"/>
              </a:rPr>
              <a:t>Variable Importance 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Decrease Accuracy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Age</c:v>
                </c:pt>
                <c:pt idx="1">
                  <c:v>Resting BP</c:v>
                </c:pt>
                <c:pt idx="2">
                  <c:v>Cholesterol</c:v>
                </c:pt>
                <c:pt idx="3">
                  <c:v>Fasting BS</c:v>
                </c:pt>
                <c:pt idx="4">
                  <c:v>Resting ECG</c:v>
                </c:pt>
                <c:pt idx="5">
                  <c:v>Max HR</c:v>
                </c:pt>
                <c:pt idx="6">
                  <c:v>Exercise Angina</c:v>
                </c:pt>
                <c:pt idx="7">
                  <c:v>ST Depression</c:v>
                </c:pt>
                <c:pt idx="8">
                  <c:v>ST Slope</c:v>
                </c:pt>
                <c:pt idx="9">
                  <c:v>Major Vessels</c:v>
                </c:pt>
                <c:pt idx="10">
                  <c:v>Thalassemia</c:v>
                </c:pt>
                <c:pt idx="11">
                  <c:v>Chest Pain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4.5</c:v>
                </c:pt>
                <c:pt idx="1">
                  <c:v>4.8</c:v>
                </c:pt>
                <c:pt idx="2">
                  <c:v>4.8</c:v>
                </c:pt>
                <c:pt idx="3">
                  <c:v>5.2</c:v>
                </c:pt>
                <c:pt idx="4">
                  <c:v>5.8</c:v>
                </c:pt>
                <c:pt idx="5">
                  <c:v>9.4</c:v>
                </c:pt>
                <c:pt idx="6">
                  <c:v>11.8</c:v>
                </c:pt>
                <c:pt idx="7">
                  <c:v>12.3</c:v>
                </c:pt>
                <c:pt idx="8">
                  <c:v>14.5</c:v>
                </c:pt>
                <c:pt idx="9">
                  <c:v>16.8</c:v>
                </c:pt>
                <c:pt idx="10">
                  <c:v>18.2</c:v>
                </c:pt>
                <c:pt idx="11">
                  <c:v>14.5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3F-4E82-9B6B-9BA0F969D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914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yourself and the project. This dashboard combines R machine learning with interactive visualization — either Power BI or a Shiny app — to predict heart disease in 606 clinical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sets up the four pillars: why this matters (heart disease deaths), what data we use, what our technical solution is, and the clinical and analytical value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14 variables briefly, highlighting the target column. Then explain the data flows: CSV → R preparation → Random Forest → outputs → Shiny dashboard. Emphasize the 80/20 train-test split.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1 of the Shiny dashboard. Six KPI cards update dynamically with sidebar filters. The donut shows 54.5% disease prevalence. The age chart shows peak risk in the 50-59 bracket. The gender chart shows males are more 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2 covers EDA. Key insight: disease patients have LOWER max heart rate and HIGHER ST depression. Cholesterol is surprisingly weakly correlated. The interactive correlation heatmap on the Shiny app shows all pairwise correlations.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clinical insight: asymptomatic patients actually have the MOST disease — they just don't report typical pain. Exercise angina is the single strongest behavioral indicator. Reversible thalassemia defects dominate disease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Thalassemia is the most important variable (highest mean decrease accuracy), followed by major vessels and chest pain type. The ROC AUC of ~0.93 is excellent — well above the 0.5 random baseline. Sensitivity of 88% means very few true disease cases are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with the four key findings: accuracy, AUC, the top predictor, and the asymptomatic paradox. Mention next steps: online deployment, a patient risk calculator, and trying ensemble methods.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7" Type="http://schemas.openxmlformats.org/officeDocument/2006/relationships/chart" Target="../charts/chart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457200"/>
            <a:ext cx="1371600" cy="137160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640080"/>
            <a:ext cx="1005840" cy="1005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214884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E6394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21488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SCIENCE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11480" y="2606040"/>
            <a:ext cx="39319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Disease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5029200" y="15544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Machine Learning in R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Interactive Visualization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2920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606 Patients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4652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13 Variables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863840" y="2606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2606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029200" y="4297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Fadhili  •  USIU-Africa  •  Data Science &amp; Analytics  •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011680" cy="36118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325880"/>
            <a:ext cx="1005840" cy="10058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481328"/>
            <a:ext cx="694944" cy="6949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9768" y="24688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1148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is the leading cause of death globally. Early prediction from clinical data can save lives and support clinical decisions.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143000"/>
            <a:ext cx="2011680" cy="36118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971800" y="1325880"/>
            <a:ext cx="1005840" cy="1005840"/>
          </a:xfrm>
          <a:prstGeom prst="ellipse">
            <a:avLst/>
          </a:prstGeom>
          <a:solidFill>
            <a:srgbClr val="1A4B8C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481328"/>
            <a:ext cx="694944" cy="6949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78608" y="24688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56032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 patient records across 14 clinical variables including age, cholesterol, blood pressure, chest pain type and thalassemia.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17720" y="1143000"/>
            <a:ext cx="2011680" cy="36118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120640" y="1325880"/>
            <a:ext cx="1005840" cy="1005840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481328"/>
            <a:ext cx="694944" cy="6949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27448" y="24688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70916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in R delivering 87% accuracy, integrated into a 4-page interactive Shiny dashboard.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766560" y="1143000"/>
            <a:ext cx="2011680" cy="36118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269480" y="1325880"/>
            <a:ext cx="1005840" cy="1005840"/>
          </a:xfrm>
          <a:prstGeom prst="ellipse">
            <a:avLst/>
          </a:prstGeom>
          <a:solidFill>
            <a:srgbClr val="F4A2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1481328"/>
            <a:ext cx="694944" cy="6949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76288" y="2468880"/>
            <a:ext cx="179222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0" y="292608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high-risk patients, ranks key risk factors, and gives clinicians and analysts an interactive decision-support tool.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PROJECT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Clinical Variables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60020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1A4B8C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60020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age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17320" y="16002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Patient age (29–77 yrs)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892808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89280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sex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17320" y="18928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Gender (Male / Female)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" y="2185416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1A4B8C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21854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cp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417320" y="21854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Chest pain type (0–3)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2478024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47802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trestbps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417320" y="247802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Resting blood pressure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4048" y="277063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1A4B8C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77063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chol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417320" y="277063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Serum cholesterol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4048" y="306324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06324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thalach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417320" y="306324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Max heart rate achieved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355848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1A4B8C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35584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exang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417320" y="335584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Exercise-induced angina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84048" y="3648456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" y="364845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oldpeak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417320" y="364845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 depression (exercise)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84048" y="3941064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1A4B8C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394106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417320" y="394106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Major vessels (0–4)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4233672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" y="423367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thal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417320" y="4233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Thalassemia type (0–3)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" y="4526280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1A4B8C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52628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target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417320" y="452628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Heart disease: 1=Yes, 0=No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1051560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006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800600" y="15544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A4B8C"/>
          </a:solidFill>
          <a:ln/>
        </p:spPr>
      </p:sp>
      <p:sp>
        <p:nvSpPr>
          <p:cNvPr id="42" name="Text 40"/>
          <p:cNvSpPr/>
          <p:nvPr/>
        </p:nvSpPr>
        <p:spPr>
          <a:xfrm>
            <a:off x="4846320" y="1563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Dataset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846320" y="1801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606 patients · 14 vars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 rot="10800000">
            <a:off x="6519672" y="2084832"/>
            <a:ext cx="219456" cy="128016"/>
          </a:xfrm>
          <a:prstGeom prst="triangle">
            <a:avLst/>
          </a:prstGeom>
          <a:solidFill>
            <a:srgbClr val="0D2137"/>
          </a:solidFill>
          <a:ln/>
        </p:spPr>
      </p:sp>
      <p:sp>
        <p:nvSpPr>
          <p:cNvPr id="45" name="Shape 43"/>
          <p:cNvSpPr/>
          <p:nvPr/>
        </p:nvSpPr>
        <p:spPr>
          <a:xfrm>
            <a:off x="4800600" y="2212848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A4B8C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22219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46320" y="24597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Labelling · Encoding · Split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 rot="10800000">
            <a:off x="6519672" y="2743200"/>
            <a:ext cx="219456" cy="128016"/>
          </a:xfrm>
          <a:prstGeom prst="triangle">
            <a:avLst/>
          </a:prstGeom>
          <a:solidFill>
            <a:srgbClr val="0D2137"/>
          </a:solidFill>
          <a:ln/>
        </p:spPr>
      </p:sp>
      <p:sp>
        <p:nvSpPr>
          <p:cNvPr id="49" name="Shape 47"/>
          <p:cNvSpPr/>
          <p:nvPr/>
        </p:nvSpPr>
        <p:spPr>
          <a:xfrm>
            <a:off x="4800600" y="2871216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846320" y="3118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ntree=500 · mtry=3 · set.seed(42)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 rot="10800000">
            <a:off x="6519672" y="3401568"/>
            <a:ext cx="219456" cy="128016"/>
          </a:xfrm>
          <a:prstGeom prst="triangle">
            <a:avLst/>
          </a:prstGeom>
          <a:solidFill>
            <a:srgbClr val="0D2137"/>
          </a:solidFill>
          <a:ln/>
        </p:spPr>
      </p:sp>
      <p:sp>
        <p:nvSpPr>
          <p:cNvPr id="53" name="Shape 51"/>
          <p:cNvSpPr/>
          <p:nvPr/>
        </p:nvSpPr>
        <p:spPr>
          <a:xfrm>
            <a:off x="4800600" y="3529584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54" name="Text 52"/>
          <p:cNvSpPr/>
          <p:nvPr/>
        </p:nvSpPr>
        <p:spPr>
          <a:xfrm>
            <a:off x="4846320" y="35387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Outputs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846320" y="37764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Predictions · Importance · ROC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 rot="10800000">
            <a:off x="6519672" y="4059936"/>
            <a:ext cx="219456" cy="128016"/>
          </a:xfrm>
          <a:prstGeom prst="triangle">
            <a:avLst/>
          </a:prstGeom>
          <a:solidFill>
            <a:srgbClr val="0D2137"/>
          </a:solidFill>
          <a:ln/>
        </p:spPr>
      </p:sp>
      <p:sp>
        <p:nvSpPr>
          <p:cNvPr id="57" name="Shape 55"/>
          <p:cNvSpPr/>
          <p:nvPr/>
        </p:nvSpPr>
        <p:spPr>
          <a:xfrm>
            <a:off x="4800600" y="4187952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F4A261"/>
          </a:solidFill>
          <a:ln/>
        </p:spPr>
      </p:sp>
      <p:sp>
        <p:nvSpPr>
          <p:cNvPr id="58" name="Text 56"/>
          <p:cNvSpPr/>
          <p:nvPr/>
        </p:nvSpPr>
        <p:spPr>
          <a:xfrm>
            <a:off x="4846320" y="41970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Shiny Dashboard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46320" y="4434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4 pages · Plotly · DT · Filters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1: EXECUTIVE DASHBOARD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06640" y="182880"/>
            <a:ext cx="1508760" cy="530352"/>
          </a:xfrm>
          <a:prstGeom prst="roundRect">
            <a:avLst>
              <a:gd name="adj" fmla="val 10345"/>
            </a:avLst>
          </a:prstGeom>
          <a:solidFill>
            <a:srgbClr val="E63946"/>
          </a:solidFill>
          <a:ln/>
        </p:spPr>
      </p:sp>
      <p:sp>
        <p:nvSpPr>
          <p:cNvPr id="5" name="Text 3"/>
          <p:cNvSpPr/>
          <p:nvPr/>
        </p:nvSpPr>
        <p:spPr>
          <a:xfrm>
            <a:off x="7406640" y="18288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LIVE FILTERS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05156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4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Total Patients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91640" y="105156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69164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1673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Heart Disease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05156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154680" y="1673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Healthy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4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~87%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1673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Model Accuracy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105156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8076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~0.93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080760" y="1673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AUC Score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1051560"/>
            <a:ext cx="13258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543800" y="1097280"/>
            <a:ext cx="1325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43800" y="16733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Variables Used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74320" y="2331720"/>
          <a:ext cx="310896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1"/>
          <p:cNvGraphicFramePr/>
          <p:nvPr/>
        </p:nvGraphicFramePr>
        <p:xfrm>
          <a:off x="3566160" y="2331720"/>
          <a:ext cx="3017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Chart 2"/>
          <p:cNvGraphicFramePr/>
          <p:nvPr/>
        </p:nvGraphicFramePr>
        <p:xfrm>
          <a:off x="6720840" y="2331720"/>
          <a:ext cx="21488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2: EXPLORATORY DATA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4206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663440" y="1005840"/>
          <a:ext cx="42062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274320" y="3154680"/>
          <a:ext cx="42062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4663440" y="315468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4800600" y="321868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1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Correlation Insights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773168" y="3694176"/>
            <a:ext cx="164592" cy="164592"/>
          </a:xfrm>
          <a:prstGeom prst="ellipse">
            <a:avLst/>
          </a:prstGeom>
          <a:solidFill>
            <a:srgbClr val="E63946"/>
          </a:solidFill>
          <a:ln/>
        </p:spPr>
      </p:sp>
      <p:sp>
        <p:nvSpPr>
          <p:cNvPr id="10" name="Text 5"/>
          <p:cNvSpPr/>
          <p:nvPr/>
        </p:nvSpPr>
        <p:spPr>
          <a:xfrm>
            <a:off x="5010912" y="3657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Thalassemia (thal) is the strongest predictor of disease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4773168" y="4005072"/>
            <a:ext cx="164592" cy="164592"/>
          </a:xfrm>
          <a:prstGeom prst="ellipse">
            <a:avLst/>
          </a:prstGeom>
          <a:solidFill>
            <a:srgbClr val="1A4B8C"/>
          </a:solidFill>
          <a:ln/>
        </p:spPr>
      </p:sp>
      <p:sp>
        <p:nvSpPr>
          <p:cNvPr id="12" name="Text 7"/>
          <p:cNvSpPr/>
          <p:nvPr/>
        </p:nvSpPr>
        <p:spPr>
          <a:xfrm>
            <a:off x="5010912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Major vessels (ca) shows high negative correlation with disease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773168" y="4315968"/>
            <a:ext cx="164592" cy="164592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9"/>
          <p:cNvSpPr/>
          <p:nvPr/>
        </p:nvSpPr>
        <p:spPr>
          <a:xfrm>
            <a:off x="5010912" y="4279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Max heart rate (thalach) drops significantly in disease patients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773168" y="4626864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6" name="Text 11"/>
          <p:cNvSpPr/>
          <p:nvPr/>
        </p:nvSpPr>
        <p:spPr>
          <a:xfrm>
            <a:off x="5010912" y="4590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ST depression (oldpeak) rises sharply in disease patients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3: HEART DISEASE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005840"/>
          <a:ext cx="25603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3108960" y="1005840"/>
          <a:ext cx="29260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2"/>
          <p:cNvGraphicFramePr/>
          <p:nvPr/>
        </p:nvGraphicFramePr>
        <p:xfrm>
          <a:off x="6263640" y="1005840"/>
          <a:ext cx="260604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" name="Chart 3"/>
          <p:cNvGraphicFramePr/>
          <p:nvPr/>
        </p:nvGraphicFramePr>
        <p:xfrm>
          <a:off x="274320" y="3200400"/>
          <a:ext cx="292608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8" name="Chart 4"/>
          <p:cNvGraphicFramePr/>
          <p:nvPr/>
        </p:nvGraphicFramePr>
        <p:xfrm>
          <a:off x="3429000" y="3200400"/>
          <a:ext cx="256032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9" name="Shape 2"/>
          <p:cNvSpPr/>
          <p:nvPr/>
        </p:nvSpPr>
        <p:spPr>
          <a:xfrm>
            <a:off x="6217920" y="320040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3"/>
          <p:cNvSpPr/>
          <p:nvPr/>
        </p:nvSpPr>
        <p:spPr>
          <a:xfrm>
            <a:off x="6355080" y="32918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39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6355080" y="37033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chest pain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patients have the highest disease rate counter-intuitive and clinically critical.
</a:t>
            </a: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angina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present in 69% of disease cases vs only 22% in healthy patients.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4: MACHINE LEARNING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1609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332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4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84248" y="1005840"/>
            <a:ext cx="1609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84248" y="10332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</a:rPr>
              <a:t>100%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84248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Sensitivity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39896" y="1005840"/>
            <a:ext cx="1609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9896" y="10332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92.7%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39896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Specificity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95544" y="1005840"/>
            <a:ext cx="1609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95544" y="10332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</a:rPr>
              <a:t>94.3%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95544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Precision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51192" y="1005840"/>
            <a:ext cx="1609344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51192" y="1033272"/>
            <a:ext cx="16093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251192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Score</a:t>
            </a:r>
            <a:endParaRPr lang="en-US" sz="9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2494019718"/>
              </p:ext>
            </p:extLst>
          </p:nvPr>
        </p:nvGraphicFramePr>
        <p:xfrm>
          <a:off x="274320" y="2011680"/>
          <a:ext cx="7368684" cy="3131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457200"/>
            <a:ext cx="2194560" cy="2194560"/>
          </a:xfrm>
          <a:prstGeom prst="ellipse">
            <a:avLst/>
          </a:prstGeom>
          <a:solidFill>
            <a:srgbClr val="E63946">
              <a:alpha val="8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86868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856232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7830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87% Accuracy achieved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22960" y="207568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correctly classifies 87% of patients using 13 clinical features.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633472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5603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= 0.93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22960" y="28529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discrimination ability — the model is a strong clinical screening tool.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410712"/>
            <a:ext cx="347472" cy="3474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33756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Thalassemia is #1 factor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822960" y="3630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Thal, major vessels, and chest pain type are the most predictive variables.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187952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41148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Asymptomatic = High Risk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822960" y="440740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without symptoms are actually at highest risk — a critical clinical insight.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6492240" y="28346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492240" y="3273552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EC4B6">
              <a:alpha val="70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49224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Deploy to shinyapps.io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6492240" y="3712464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EC4B6">
              <a:alpha val="7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6492240" y="37124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Add patient risk calculator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6492240" y="4151376"/>
            <a:ext cx="2468880" cy="347472"/>
          </a:xfrm>
          <a:prstGeom prst="roundRect">
            <a:avLst>
              <a:gd name="adj" fmla="val 15789"/>
            </a:avLst>
          </a:prstGeom>
          <a:solidFill>
            <a:srgbClr val="2EC4B6">
              <a:alpha val="7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6492240" y="415137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Try XGBoost / ensemble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492240" y="4686300"/>
            <a:ext cx="206318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365760" y="4800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Fadhili  •  USIU-Africa  •  Data Science &amp; Analytics  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855</Words>
  <Application>Microsoft Office PowerPoint</Application>
  <PresentationFormat>On-screen Show (16:9)</PresentationFormat>
  <Paragraphs>132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Prediction Dashboard</dc:title>
  <dc:subject>Machine Learning + Power BI / Shiny</dc:subject>
  <dc:creator>Benjamin Fadhili</dc:creator>
  <cp:lastModifiedBy>fadhili  benjamin</cp:lastModifiedBy>
  <cp:revision>3</cp:revision>
  <dcterms:created xsi:type="dcterms:W3CDTF">2026-06-28T11:34:51Z</dcterms:created>
  <dcterms:modified xsi:type="dcterms:W3CDTF">2026-06-29T02:06:30Z</dcterms:modified>
</cp:coreProperties>
</file>